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3" r:id="rId3"/>
    <p:sldId id="257" r:id="rId4"/>
    <p:sldId id="258"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6DEBCE4-D4FA-4D32-A3B9-3232240648C0}" type="datetimeFigureOut">
              <a:rPr lang="en-IN" smtClean="0"/>
              <a:t>02-12-2025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5C73746D-0A0A-4022-BD03-4E4A2FED2C46}"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5590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DEBCE4-D4FA-4D32-A3B9-3232240648C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73746D-0A0A-4022-BD03-4E4A2FED2C46}" type="slidenum">
              <a:rPr lang="en-IN" smtClean="0"/>
              <a:t>‹#›</a:t>
            </a:fld>
            <a:endParaRPr lang="en-IN"/>
          </a:p>
        </p:txBody>
      </p:sp>
    </p:spTree>
    <p:extLst>
      <p:ext uri="{BB962C8B-B14F-4D97-AF65-F5344CB8AC3E}">
        <p14:creationId xmlns:p14="http://schemas.microsoft.com/office/powerpoint/2010/main" val="2177938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DEBCE4-D4FA-4D32-A3B9-3232240648C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73746D-0A0A-4022-BD03-4E4A2FED2C46}"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6872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6DEBCE4-D4FA-4D32-A3B9-3232240648C0}"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C73746D-0A0A-4022-BD03-4E4A2FED2C46}" type="slidenum">
              <a:rPr lang="en-IN" smtClean="0"/>
              <a:t>‹#›</a:t>
            </a:fld>
            <a:endParaRPr lang="en-IN"/>
          </a:p>
        </p:txBody>
      </p:sp>
    </p:spTree>
    <p:extLst>
      <p:ext uri="{BB962C8B-B14F-4D97-AF65-F5344CB8AC3E}">
        <p14:creationId xmlns:p14="http://schemas.microsoft.com/office/powerpoint/2010/main" val="318628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DEBCE4-D4FA-4D32-A3B9-3232240648C0}" type="datetimeFigureOut">
              <a:rPr lang="en-IN" smtClean="0"/>
              <a:t>02-12-2025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C73746D-0A0A-4022-BD03-4E4A2FED2C46}"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1489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DEBCE4-D4FA-4D32-A3B9-3232240648C0}" type="datetimeFigureOut">
              <a:rPr lang="en-IN" smtClean="0"/>
              <a:t>02-12-2025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C73746D-0A0A-4022-BD03-4E4A2FED2C46}"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1329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DEBCE4-D4FA-4D32-A3B9-3232240648C0}" type="datetimeFigureOut">
              <a:rPr lang="en-IN" smtClean="0"/>
              <a:t>02-12-2025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C73746D-0A0A-4022-BD03-4E4A2FED2C46}" type="slidenum">
              <a:rPr lang="en-IN" smtClean="0"/>
              <a:t>‹#›</a:t>
            </a:fld>
            <a:endParaRPr lang="en-IN"/>
          </a:p>
        </p:txBody>
      </p:sp>
    </p:spTree>
    <p:extLst>
      <p:ext uri="{BB962C8B-B14F-4D97-AF65-F5344CB8AC3E}">
        <p14:creationId xmlns:p14="http://schemas.microsoft.com/office/powerpoint/2010/main" val="29015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DEBCE4-D4FA-4D32-A3B9-3232240648C0}"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C73746D-0A0A-4022-BD03-4E4A2FED2C46}"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537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DEBCE4-D4FA-4D32-A3B9-3232240648C0}"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C73746D-0A0A-4022-BD03-4E4A2FED2C46}" type="slidenum">
              <a:rPr lang="en-IN" smtClean="0"/>
              <a:t>‹#›</a:t>
            </a:fld>
            <a:endParaRPr lang="en-IN"/>
          </a:p>
        </p:txBody>
      </p:sp>
    </p:spTree>
    <p:extLst>
      <p:ext uri="{BB962C8B-B14F-4D97-AF65-F5344CB8AC3E}">
        <p14:creationId xmlns:p14="http://schemas.microsoft.com/office/powerpoint/2010/main" val="340659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DEBCE4-D4FA-4D32-A3B9-3232240648C0}"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C73746D-0A0A-4022-BD03-4E4A2FED2C46}" type="slidenum">
              <a:rPr lang="en-IN" smtClean="0"/>
              <a:t>‹#›</a:t>
            </a:fld>
            <a:endParaRPr lang="en-IN"/>
          </a:p>
        </p:txBody>
      </p:sp>
    </p:spTree>
    <p:extLst>
      <p:ext uri="{BB962C8B-B14F-4D97-AF65-F5344CB8AC3E}">
        <p14:creationId xmlns:p14="http://schemas.microsoft.com/office/powerpoint/2010/main" val="1565813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DEBCE4-D4FA-4D32-A3B9-3232240648C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73746D-0A0A-4022-BD03-4E4A2FED2C46}"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6473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DEBCE4-D4FA-4D32-A3B9-3232240648C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73746D-0A0A-4022-BD03-4E4A2FED2C46}"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7107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DEBCE4-D4FA-4D32-A3B9-3232240648C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73746D-0A0A-4022-BD03-4E4A2FED2C46}" type="slidenum">
              <a:rPr lang="en-IN" smtClean="0"/>
              <a:t>‹#›</a:t>
            </a:fld>
            <a:endParaRPr lang="en-IN"/>
          </a:p>
        </p:txBody>
      </p:sp>
    </p:spTree>
    <p:extLst>
      <p:ext uri="{BB962C8B-B14F-4D97-AF65-F5344CB8AC3E}">
        <p14:creationId xmlns:p14="http://schemas.microsoft.com/office/powerpoint/2010/main" val="3980320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DEBCE4-D4FA-4D32-A3B9-3232240648C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73746D-0A0A-4022-BD03-4E4A2FED2C46}"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4508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DEBCE4-D4FA-4D32-A3B9-3232240648C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73746D-0A0A-4022-BD03-4E4A2FED2C46}"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3562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DEBCE4-D4FA-4D32-A3B9-3232240648C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73746D-0A0A-4022-BD03-4E4A2FED2C46}"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44963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DEBCE4-D4FA-4D32-A3B9-3232240648C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73746D-0A0A-4022-BD03-4E4A2FED2C46}"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2686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6DEBCE4-D4FA-4D32-A3B9-3232240648C0}" type="datetimeFigureOut">
              <a:rPr lang="en-IN" smtClean="0"/>
              <a:t>02-12-2025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C73746D-0A0A-4022-BD03-4E4A2FED2C46}" type="slidenum">
              <a:rPr lang="en-IN" smtClean="0"/>
              <a:t>‹#›</a:t>
            </a:fld>
            <a:endParaRPr lang="en-IN"/>
          </a:p>
        </p:txBody>
      </p:sp>
    </p:spTree>
    <p:extLst>
      <p:ext uri="{BB962C8B-B14F-4D97-AF65-F5344CB8AC3E}">
        <p14:creationId xmlns:p14="http://schemas.microsoft.com/office/powerpoint/2010/main" val="237843520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3E1F6-4393-9191-6CD0-F96D9D9D3BD4}"/>
              </a:ext>
            </a:extLst>
          </p:cNvPr>
          <p:cNvSpPr>
            <a:spLocks noGrp="1"/>
          </p:cNvSpPr>
          <p:nvPr>
            <p:ph type="ctrTitle"/>
          </p:nvPr>
        </p:nvSpPr>
        <p:spPr>
          <a:xfrm>
            <a:off x="2525250" y="2281084"/>
            <a:ext cx="6815669" cy="1284749"/>
          </a:xfrm>
        </p:spPr>
        <p:txBody>
          <a:bodyPr>
            <a:normAutofit/>
          </a:bodyPr>
          <a:lstStyle/>
          <a:p>
            <a:r>
              <a:rPr lang="en-IN" b="1" dirty="0"/>
              <a:t>Basic NLP Concepts</a:t>
            </a:r>
            <a:endParaRPr lang="en-IN" dirty="0"/>
          </a:p>
        </p:txBody>
      </p:sp>
      <p:sp>
        <p:nvSpPr>
          <p:cNvPr id="3" name="Subtitle 2">
            <a:extLst>
              <a:ext uri="{FF2B5EF4-FFF2-40B4-BE49-F238E27FC236}">
                <a16:creationId xmlns:a16="http://schemas.microsoft.com/office/drawing/2014/main" id="{AF016829-63E9-0131-0846-153DC1DEF8C6}"/>
              </a:ext>
            </a:extLst>
          </p:cNvPr>
          <p:cNvSpPr>
            <a:spLocks noGrp="1"/>
          </p:cNvSpPr>
          <p:nvPr>
            <p:ph type="subTitle" idx="1"/>
          </p:nvPr>
        </p:nvSpPr>
        <p:spPr>
          <a:xfrm>
            <a:off x="2692398" y="3844412"/>
            <a:ext cx="6815669" cy="1133985"/>
          </a:xfrm>
        </p:spPr>
        <p:txBody>
          <a:bodyPr/>
          <a:lstStyle/>
          <a:p>
            <a:r>
              <a:rPr lang="en-IN" dirty="0"/>
              <a:t>NLP’s pipeline towards understanding</a:t>
            </a:r>
          </a:p>
          <a:p>
            <a:r>
              <a:rPr lang="en-IN" dirty="0"/>
              <a:t>[</a:t>
            </a:r>
            <a:r>
              <a:rPr lang="en-IN"/>
              <a:t>250241 –Avinandha]</a:t>
            </a:r>
            <a:endParaRPr lang="en-IN" dirty="0"/>
          </a:p>
        </p:txBody>
      </p:sp>
    </p:spTree>
    <p:extLst>
      <p:ext uri="{BB962C8B-B14F-4D97-AF65-F5344CB8AC3E}">
        <p14:creationId xmlns:p14="http://schemas.microsoft.com/office/powerpoint/2010/main" val="3290057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4E53-73E0-3592-911C-71487B99761D}"/>
              </a:ext>
            </a:extLst>
          </p:cNvPr>
          <p:cNvSpPr>
            <a:spLocks noGrp="1"/>
          </p:cNvSpPr>
          <p:nvPr>
            <p:ph type="title"/>
          </p:nvPr>
        </p:nvSpPr>
        <p:spPr/>
        <p:txBody>
          <a:bodyPr/>
          <a:lstStyle/>
          <a:p>
            <a:r>
              <a:rPr lang="en-IN" dirty="0"/>
              <a:t>The pipeline follows</a:t>
            </a:r>
          </a:p>
        </p:txBody>
      </p:sp>
      <p:sp>
        <p:nvSpPr>
          <p:cNvPr id="3" name="Content Placeholder 2">
            <a:extLst>
              <a:ext uri="{FF2B5EF4-FFF2-40B4-BE49-F238E27FC236}">
                <a16:creationId xmlns:a16="http://schemas.microsoft.com/office/drawing/2014/main" id="{453971D2-D038-BCBC-1004-884A6DB5E8C7}"/>
              </a:ext>
            </a:extLst>
          </p:cNvPr>
          <p:cNvSpPr>
            <a:spLocks noGrp="1"/>
          </p:cNvSpPr>
          <p:nvPr>
            <p:ph idx="1"/>
          </p:nvPr>
        </p:nvSpPr>
        <p:spPr/>
        <p:txBody>
          <a:bodyPr>
            <a:normAutofit/>
          </a:bodyPr>
          <a:lstStyle/>
          <a:p>
            <a:r>
              <a:rPr lang="en-US" b="1" dirty="0"/>
              <a:t>1. Sentence Segmentation</a:t>
            </a:r>
          </a:p>
          <a:p>
            <a:r>
              <a:rPr lang="en-US" b="1" dirty="0"/>
              <a:t>2. Tokenization</a:t>
            </a:r>
          </a:p>
          <a:p>
            <a:r>
              <a:rPr lang="en-US" b="1" dirty="0"/>
              <a:t>3. Stop-Words Removal</a:t>
            </a:r>
          </a:p>
          <a:p>
            <a:r>
              <a:rPr lang="en-US" b="1" dirty="0"/>
              <a:t>4. Lemmatization</a:t>
            </a:r>
          </a:p>
          <a:p>
            <a:r>
              <a:rPr lang="en-US" b="1" dirty="0"/>
              <a:t>5. Part-of-Speech (POS) Tagging</a:t>
            </a:r>
          </a:p>
          <a:p>
            <a:r>
              <a:rPr lang="en-US" b="1" dirty="0"/>
              <a:t>6. Named Entity Recognition (NER)</a:t>
            </a:r>
          </a:p>
          <a:p>
            <a:endParaRPr lang="en-IN" dirty="0"/>
          </a:p>
        </p:txBody>
      </p:sp>
    </p:spTree>
    <p:extLst>
      <p:ext uri="{BB962C8B-B14F-4D97-AF65-F5344CB8AC3E}">
        <p14:creationId xmlns:p14="http://schemas.microsoft.com/office/powerpoint/2010/main" val="669278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EE353-9523-853E-385F-066F837D7B49}"/>
              </a:ext>
            </a:extLst>
          </p:cNvPr>
          <p:cNvSpPr>
            <a:spLocks noGrp="1"/>
          </p:cNvSpPr>
          <p:nvPr>
            <p:ph type="title"/>
          </p:nvPr>
        </p:nvSpPr>
        <p:spPr/>
        <p:txBody>
          <a:bodyPr>
            <a:normAutofit fontScale="90000"/>
          </a:bodyPr>
          <a:lstStyle/>
          <a:p>
            <a:r>
              <a:rPr lang="en-IN" b="1" dirty="0"/>
              <a:t>Sentence Segmentation</a:t>
            </a:r>
            <a:br>
              <a:rPr lang="en-IN" b="1" dirty="0"/>
            </a:br>
            <a:endParaRPr lang="en-IN" dirty="0"/>
          </a:p>
        </p:txBody>
      </p:sp>
      <p:sp>
        <p:nvSpPr>
          <p:cNvPr id="3" name="Content Placeholder 2">
            <a:extLst>
              <a:ext uri="{FF2B5EF4-FFF2-40B4-BE49-F238E27FC236}">
                <a16:creationId xmlns:a16="http://schemas.microsoft.com/office/drawing/2014/main" id="{271454B8-ED01-1B19-72C7-71D96CB3C5B0}"/>
              </a:ext>
            </a:extLst>
          </p:cNvPr>
          <p:cNvSpPr>
            <a:spLocks noGrp="1"/>
          </p:cNvSpPr>
          <p:nvPr>
            <p:ph idx="1"/>
          </p:nvPr>
        </p:nvSpPr>
        <p:spPr/>
        <p:txBody>
          <a:bodyPr>
            <a:normAutofit fontScale="92500"/>
          </a:bodyPr>
          <a:lstStyle/>
          <a:p>
            <a:r>
              <a:rPr lang="en-IN" dirty="0"/>
              <a:t>Understanding a whole paragraph at once is a challenging task for a computer. Hence we break the paragraph into sentences, and then work on each sentences. This breaking of paragraph into sentences is called </a:t>
            </a:r>
            <a:r>
              <a:rPr lang="en-IN" b="1" i="1" dirty="0"/>
              <a:t>Sentence Segmentation</a:t>
            </a:r>
            <a:r>
              <a:rPr lang="en-IN" dirty="0"/>
              <a:t>.</a:t>
            </a:r>
          </a:p>
          <a:p>
            <a:r>
              <a:rPr lang="en-IN" dirty="0"/>
              <a:t>Each sentence in English is assumed to be idea. Where the code generally separates sentences from a paragraph using punctuations. But there are better methods now. </a:t>
            </a:r>
          </a:p>
          <a:p>
            <a:r>
              <a:rPr lang="en-IN" dirty="0"/>
              <a:t>The whole process is to make it simpler, because it is easy to write a code to understand a single sentence than a paragraph </a:t>
            </a:r>
          </a:p>
          <a:p>
            <a:endParaRPr lang="en-IN" dirty="0"/>
          </a:p>
        </p:txBody>
      </p:sp>
    </p:spTree>
    <p:extLst>
      <p:ext uri="{BB962C8B-B14F-4D97-AF65-F5344CB8AC3E}">
        <p14:creationId xmlns:p14="http://schemas.microsoft.com/office/powerpoint/2010/main" val="2773597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1FC24-1D8A-06AD-B6F4-C2D8650554EE}"/>
              </a:ext>
            </a:extLst>
          </p:cNvPr>
          <p:cNvSpPr>
            <a:spLocks noGrp="1"/>
          </p:cNvSpPr>
          <p:nvPr>
            <p:ph type="title"/>
          </p:nvPr>
        </p:nvSpPr>
        <p:spPr/>
        <p:txBody>
          <a:bodyPr>
            <a:normAutofit fontScale="90000"/>
          </a:bodyPr>
          <a:lstStyle/>
          <a:p>
            <a:r>
              <a:rPr lang="en-IN" b="1" dirty="0"/>
              <a:t>Word Tokenization</a:t>
            </a:r>
            <a:br>
              <a:rPr lang="en-IN" b="1" dirty="0"/>
            </a:br>
            <a:endParaRPr lang="en-IN" dirty="0"/>
          </a:p>
        </p:txBody>
      </p:sp>
      <p:sp>
        <p:nvSpPr>
          <p:cNvPr id="3" name="Content Placeholder 2">
            <a:extLst>
              <a:ext uri="{FF2B5EF4-FFF2-40B4-BE49-F238E27FC236}">
                <a16:creationId xmlns:a16="http://schemas.microsoft.com/office/drawing/2014/main" id="{292A520A-86CD-6CA1-94D3-CF331EF8BE2F}"/>
              </a:ext>
            </a:extLst>
          </p:cNvPr>
          <p:cNvSpPr>
            <a:spLocks noGrp="1"/>
          </p:cNvSpPr>
          <p:nvPr>
            <p:ph idx="1"/>
          </p:nvPr>
        </p:nvSpPr>
        <p:spPr/>
        <p:txBody>
          <a:bodyPr/>
          <a:lstStyle/>
          <a:p>
            <a:r>
              <a:rPr lang="en-US" dirty="0"/>
              <a:t>The next step in our pipeline is to break this sentence into separate words or </a:t>
            </a:r>
            <a:r>
              <a:rPr lang="en-US" i="1" dirty="0"/>
              <a:t>tokens</a:t>
            </a:r>
            <a:r>
              <a:rPr lang="en-US" dirty="0"/>
              <a:t>. This is called </a:t>
            </a:r>
            <a:r>
              <a:rPr lang="en-US" i="1" dirty="0"/>
              <a:t>tokenization</a:t>
            </a:r>
            <a:r>
              <a:rPr lang="en-US" dirty="0"/>
              <a:t>.</a:t>
            </a:r>
          </a:p>
          <a:p>
            <a:r>
              <a:rPr lang="en-US" dirty="0"/>
              <a:t>We’ll just split apart words whenever there’s a space between them. And we’ll also treat punctuation marks as separate tokens since punctuation also has meaning.</a:t>
            </a:r>
          </a:p>
          <a:p>
            <a:r>
              <a:rPr lang="en-US" dirty="0"/>
              <a:t>This later helps in predicting parts of speech, text lamenting where we understand each word and the relation with each other in the sentence or paragraph.</a:t>
            </a:r>
            <a:endParaRPr lang="en-IN" dirty="0"/>
          </a:p>
        </p:txBody>
      </p:sp>
    </p:spTree>
    <p:extLst>
      <p:ext uri="{BB962C8B-B14F-4D97-AF65-F5344CB8AC3E}">
        <p14:creationId xmlns:p14="http://schemas.microsoft.com/office/powerpoint/2010/main" val="3898716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E0E5F-328C-C24E-2194-CCEA3A13140A}"/>
              </a:ext>
            </a:extLst>
          </p:cNvPr>
          <p:cNvSpPr>
            <a:spLocks noGrp="1"/>
          </p:cNvSpPr>
          <p:nvPr>
            <p:ph type="title"/>
          </p:nvPr>
        </p:nvSpPr>
        <p:spPr/>
        <p:txBody>
          <a:bodyPr>
            <a:normAutofit fontScale="90000"/>
          </a:bodyPr>
          <a:lstStyle/>
          <a:p>
            <a:r>
              <a:rPr lang="en-IN" b="1" dirty="0"/>
              <a:t>Stop-Words Removal</a:t>
            </a:r>
            <a:br>
              <a:rPr lang="en-IN" b="1" dirty="0"/>
            </a:br>
            <a:endParaRPr lang="en-IN" dirty="0"/>
          </a:p>
        </p:txBody>
      </p:sp>
      <p:sp>
        <p:nvSpPr>
          <p:cNvPr id="3" name="Content Placeholder 2">
            <a:extLst>
              <a:ext uri="{FF2B5EF4-FFF2-40B4-BE49-F238E27FC236}">
                <a16:creationId xmlns:a16="http://schemas.microsoft.com/office/drawing/2014/main" id="{8AB57893-2639-749B-E7DA-D4D438352883}"/>
              </a:ext>
            </a:extLst>
          </p:cNvPr>
          <p:cNvSpPr>
            <a:spLocks noGrp="1"/>
          </p:cNvSpPr>
          <p:nvPr>
            <p:ph idx="1"/>
          </p:nvPr>
        </p:nvSpPr>
        <p:spPr/>
        <p:txBody>
          <a:bodyPr>
            <a:normAutofit fontScale="92500" lnSpcReduction="20000"/>
          </a:bodyPr>
          <a:lstStyle/>
          <a:p>
            <a:r>
              <a:rPr lang="en-IN" dirty="0"/>
              <a:t>Once we are done with tokenisation we analyse the words obtained. There are a certain set of words that are commonly or repeatedly used which don’t have a unique meaning or they are just connectors or other grammatical parts of a sentence. </a:t>
            </a:r>
          </a:p>
          <a:p>
            <a:r>
              <a:rPr lang="en-IN" dirty="0"/>
              <a:t>For example “and”, ”the” ,”a”  etc. these words are removed in order to obtain the real content of the paragraph. These words are usually around the key words enhancing grammar.</a:t>
            </a:r>
          </a:p>
          <a:p>
            <a:r>
              <a:rPr lang="en-US" dirty="0"/>
              <a:t>Stop words are usually identified by just by checking a hardcoded list of known stop words. But there’s no standard list of stop words that is appropriate for all applications. The list of words to ignore can vary depending on your application.</a:t>
            </a:r>
            <a:r>
              <a:rPr lang="en-IN" dirty="0"/>
              <a:t> </a:t>
            </a:r>
          </a:p>
        </p:txBody>
      </p:sp>
    </p:spTree>
    <p:extLst>
      <p:ext uri="{BB962C8B-B14F-4D97-AF65-F5344CB8AC3E}">
        <p14:creationId xmlns:p14="http://schemas.microsoft.com/office/powerpoint/2010/main" val="422446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2AB43-35E5-14B1-DBBC-4FF10A69008B}"/>
              </a:ext>
            </a:extLst>
          </p:cNvPr>
          <p:cNvSpPr>
            <a:spLocks noGrp="1"/>
          </p:cNvSpPr>
          <p:nvPr>
            <p:ph type="title"/>
          </p:nvPr>
        </p:nvSpPr>
        <p:spPr/>
        <p:txBody>
          <a:bodyPr>
            <a:normAutofit fontScale="90000"/>
          </a:bodyPr>
          <a:lstStyle/>
          <a:p>
            <a:r>
              <a:rPr lang="en-IN" b="1" dirty="0"/>
              <a:t> Lemmatization</a:t>
            </a:r>
            <a:br>
              <a:rPr lang="en-IN" b="1" dirty="0"/>
            </a:br>
            <a:endParaRPr lang="en-IN" dirty="0"/>
          </a:p>
        </p:txBody>
      </p:sp>
      <p:sp>
        <p:nvSpPr>
          <p:cNvPr id="3" name="Content Placeholder 2">
            <a:extLst>
              <a:ext uri="{FF2B5EF4-FFF2-40B4-BE49-F238E27FC236}">
                <a16:creationId xmlns:a16="http://schemas.microsoft.com/office/drawing/2014/main" id="{FEE7C774-4BFF-1A5A-6147-01EA5CBC2DC3}"/>
              </a:ext>
            </a:extLst>
          </p:cNvPr>
          <p:cNvSpPr>
            <a:spLocks noGrp="1"/>
          </p:cNvSpPr>
          <p:nvPr>
            <p:ph idx="1"/>
          </p:nvPr>
        </p:nvSpPr>
        <p:spPr/>
        <p:txBody>
          <a:bodyPr/>
          <a:lstStyle/>
          <a:p>
            <a:r>
              <a:rPr lang="en-US" dirty="0"/>
              <a:t>We cannot expect all the words given in the text to be in their base form. So during tokenization if two different form of the same word will be treated as different words. </a:t>
            </a:r>
          </a:p>
          <a:p>
            <a:r>
              <a:rPr lang="en-US" dirty="0"/>
              <a:t>Hence deriving the base form of each word becomes </a:t>
            </a:r>
            <a:r>
              <a:rPr lang="en-US" dirty="0" err="1"/>
              <a:t>impotant</a:t>
            </a:r>
            <a:r>
              <a:rPr lang="en-US" dirty="0"/>
              <a:t>.</a:t>
            </a:r>
          </a:p>
          <a:p>
            <a:r>
              <a:rPr lang="en-US" dirty="0"/>
              <a:t>In NLP, we call finding this process </a:t>
            </a:r>
            <a:r>
              <a:rPr lang="en-US" i="1" dirty="0"/>
              <a:t>lemmatization</a:t>
            </a:r>
            <a:r>
              <a:rPr lang="en-US" dirty="0"/>
              <a:t> — figuring out the most basic form or </a:t>
            </a:r>
            <a:r>
              <a:rPr lang="en-US" i="1" dirty="0"/>
              <a:t>lemma</a:t>
            </a:r>
            <a:r>
              <a:rPr lang="en-US" dirty="0"/>
              <a:t> of each word in the sentence.</a:t>
            </a:r>
            <a:endParaRPr lang="en-IN" dirty="0"/>
          </a:p>
        </p:txBody>
      </p:sp>
    </p:spTree>
    <p:extLst>
      <p:ext uri="{BB962C8B-B14F-4D97-AF65-F5344CB8AC3E}">
        <p14:creationId xmlns:p14="http://schemas.microsoft.com/office/powerpoint/2010/main" val="2197782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C99AF-3914-EC14-9255-57C8739D8E6E}"/>
              </a:ext>
            </a:extLst>
          </p:cNvPr>
          <p:cNvSpPr>
            <a:spLocks noGrp="1"/>
          </p:cNvSpPr>
          <p:nvPr>
            <p:ph type="title"/>
          </p:nvPr>
        </p:nvSpPr>
        <p:spPr/>
        <p:txBody>
          <a:bodyPr>
            <a:normAutofit fontScale="90000"/>
          </a:bodyPr>
          <a:lstStyle/>
          <a:p>
            <a:r>
              <a:rPr lang="en-IN" b="1" dirty="0"/>
              <a:t>Part-of-Speech (POS) Tagging</a:t>
            </a:r>
            <a:br>
              <a:rPr lang="en-IN" b="1" dirty="0"/>
            </a:br>
            <a:endParaRPr lang="en-IN" dirty="0"/>
          </a:p>
        </p:txBody>
      </p:sp>
      <p:sp>
        <p:nvSpPr>
          <p:cNvPr id="3" name="Content Placeholder 2">
            <a:extLst>
              <a:ext uri="{FF2B5EF4-FFF2-40B4-BE49-F238E27FC236}">
                <a16:creationId xmlns:a16="http://schemas.microsoft.com/office/drawing/2014/main" id="{F03E4082-5D20-DF8A-24B3-3D51BAC2994E}"/>
              </a:ext>
            </a:extLst>
          </p:cNvPr>
          <p:cNvSpPr>
            <a:spLocks noGrp="1"/>
          </p:cNvSpPr>
          <p:nvPr>
            <p:ph idx="1"/>
          </p:nvPr>
        </p:nvSpPr>
        <p:spPr/>
        <p:txBody>
          <a:bodyPr/>
          <a:lstStyle/>
          <a:p>
            <a:r>
              <a:rPr lang="en-IN" dirty="0"/>
              <a:t>This is the part where we find the meaning associated with each word after tokenization where we identify the part of speech. We try to figure out the role of the word in the sentence and understand what the sentence is all about.</a:t>
            </a:r>
          </a:p>
          <a:p>
            <a:r>
              <a:rPr lang="en-US" dirty="0"/>
              <a:t>The model is completely based on statistics — it doesn’t actually understand what the words mean in the same way that humans do. It just knows how to guess a part of speech based on similar sentences and words it has seen before.</a:t>
            </a:r>
            <a:endParaRPr lang="en-IN" dirty="0"/>
          </a:p>
        </p:txBody>
      </p:sp>
    </p:spTree>
    <p:extLst>
      <p:ext uri="{BB962C8B-B14F-4D97-AF65-F5344CB8AC3E}">
        <p14:creationId xmlns:p14="http://schemas.microsoft.com/office/powerpoint/2010/main" val="1855214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B27D5-EF95-2BB2-96BE-125673E233F0}"/>
              </a:ext>
            </a:extLst>
          </p:cNvPr>
          <p:cNvSpPr>
            <a:spLocks noGrp="1"/>
          </p:cNvSpPr>
          <p:nvPr>
            <p:ph type="title"/>
          </p:nvPr>
        </p:nvSpPr>
        <p:spPr/>
        <p:txBody>
          <a:bodyPr>
            <a:normAutofit fontScale="90000"/>
          </a:bodyPr>
          <a:lstStyle/>
          <a:p>
            <a:r>
              <a:rPr lang="en-IN" b="1" dirty="0"/>
              <a:t>Named Entity Recognition (NER)</a:t>
            </a:r>
            <a:br>
              <a:rPr lang="en-IN" b="1" dirty="0"/>
            </a:br>
            <a:endParaRPr lang="en-IN" dirty="0"/>
          </a:p>
        </p:txBody>
      </p:sp>
      <p:sp>
        <p:nvSpPr>
          <p:cNvPr id="3" name="Content Placeholder 2">
            <a:extLst>
              <a:ext uri="{FF2B5EF4-FFF2-40B4-BE49-F238E27FC236}">
                <a16:creationId xmlns:a16="http://schemas.microsoft.com/office/drawing/2014/main" id="{70060912-37F5-FEF9-CEFC-F117BE2D24FE}"/>
              </a:ext>
            </a:extLst>
          </p:cNvPr>
          <p:cNvSpPr>
            <a:spLocks noGrp="1"/>
          </p:cNvSpPr>
          <p:nvPr>
            <p:ph idx="1"/>
          </p:nvPr>
        </p:nvSpPr>
        <p:spPr/>
        <p:txBody>
          <a:bodyPr>
            <a:normAutofit/>
          </a:bodyPr>
          <a:lstStyle/>
          <a:p>
            <a:r>
              <a:rPr lang="en-IN" dirty="0"/>
              <a:t>Once we have categorised the parts of speech. It is time to extract the context of the text by assigning the words its real world concept they represent.</a:t>
            </a:r>
          </a:p>
          <a:p>
            <a:r>
              <a:rPr lang="en-US" dirty="0"/>
              <a:t>Here are just some of the kinds of objects that a typical NER system can tag: People’s names, Company names and Geographic locations (Both physical and political) etc.</a:t>
            </a:r>
          </a:p>
          <a:p>
            <a:endParaRPr lang="en-US" dirty="0"/>
          </a:p>
          <a:p>
            <a:endParaRPr lang="en-IN" dirty="0"/>
          </a:p>
        </p:txBody>
      </p:sp>
      <p:pic>
        <p:nvPicPr>
          <p:cNvPr id="5" name="Picture 4" descr="A black text on a white background">
            <a:extLst>
              <a:ext uri="{FF2B5EF4-FFF2-40B4-BE49-F238E27FC236}">
                <a16:creationId xmlns:a16="http://schemas.microsoft.com/office/drawing/2014/main" id="{A023235A-0000-0917-4A2F-A0F5E5BCC2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929" y="5030118"/>
            <a:ext cx="10697497" cy="1303867"/>
          </a:xfrm>
          <a:prstGeom prst="rect">
            <a:avLst/>
          </a:prstGeom>
        </p:spPr>
      </p:pic>
    </p:spTree>
    <p:extLst>
      <p:ext uri="{BB962C8B-B14F-4D97-AF65-F5344CB8AC3E}">
        <p14:creationId xmlns:p14="http://schemas.microsoft.com/office/powerpoint/2010/main" val="426902823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88</TotalTime>
  <Words>592</Words>
  <Application>Microsoft Office PowerPoint</Application>
  <PresentationFormat>Widescreen</PresentationFormat>
  <Paragraphs>32</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Garamond</vt:lpstr>
      <vt:lpstr>Organic</vt:lpstr>
      <vt:lpstr>Basic NLP Concepts</vt:lpstr>
      <vt:lpstr>The pipeline follows</vt:lpstr>
      <vt:lpstr>Sentence Segmentation </vt:lpstr>
      <vt:lpstr>Word Tokenization </vt:lpstr>
      <vt:lpstr>Stop-Words Removal </vt:lpstr>
      <vt:lpstr> Lemmatization </vt:lpstr>
      <vt:lpstr>Part-of-Speech (POS) Tagging </vt:lpstr>
      <vt:lpstr>Named Entity Recognition (NER)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Avinandha Sreedhara</dc:creator>
  <cp:lastModifiedBy>Avinandha Sreedhara</cp:lastModifiedBy>
  <cp:revision>2</cp:revision>
  <dcterms:created xsi:type="dcterms:W3CDTF">2025-12-02T11:03:04Z</dcterms:created>
  <dcterms:modified xsi:type="dcterms:W3CDTF">2025-12-02T12:31:35Z</dcterms:modified>
</cp:coreProperties>
</file>